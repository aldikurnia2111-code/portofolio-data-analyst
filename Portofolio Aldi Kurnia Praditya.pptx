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72" r:id="rId6"/>
    <p:sldId id="273" r:id="rId7"/>
    <p:sldId id="258" r:id="rId8"/>
    <p:sldId id="259" r:id="rId9"/>
    <p:sldId id="260" r:id="rId10"/>
    <p:sldId id="261" r:id="rId11"/>
    <p:sldId id="266" r:id="rId12"/>
    <p:sldId id="262" r:id="rId13"/>
    <p:sldId id="263" r:id="rId14"/>
    <p:sldId id="264" r:id="rId15"/>
    <p:sldId id="265" r:id="rId16"/>
    <p:sldId id="267" r:id="rId17"/>
    <p:sldId id="268" r:id="rId18"/>
    <p:sldId id="269" r:id="rId19"/>
    <p:sldId id="270" r:id="rId20"/>
    <p:sldId id="275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dirty="0"/>
              <a:t>Aldi Kurnia Praditya </a:t>
            </a:r>
            <a:r>
              <a:rPr lang="en-US" dirty="0" err="1"/>
              <a:t>Portofolio</a:t>
            </a:r>
            <a:r>
              <a:rPr lang="en-US" dirty="0"/>
              <a:t> </a:t>
            </a:r>
            <a:endParaRPr lang="en-US" sz="8000" dirty="0"/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E976B-ED9E-12C2-2C9F-3BB3704E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4B85505-44DF-B4F2-F516-B5A03B980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00CE65-25FE-CB71-937A-814F7B8CE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AE0B7-E73F-F25D-2277-DCDCE84D9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pPr algn="ctr"/>
            <a:r>
              <a:rPr lang="en-US" sz="4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 PORTOFOLIO</a:t>
            </a:r>
          </a:p>
          <a:p>
            <a:pPr algn="just"/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Tujuan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pembuatan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portofolio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Adalah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showcase skill guna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membuktikan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kompetensi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melamar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pekerjaan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analyst.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kerjakan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mendapatkan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insight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Keputusan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pendapatan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suata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Perusahaan.</a:t>
            </a:r>
          </a:p>
        </p:txBody>
      </p:sp>
    </p:spTree>
    <p:extLst>
      <p:ext uri="{BB962C8B-B14F-4D97-AF65-F5344CB8AC3E}">
        <p14:creationId xmlns:p14="http://schemas.microsoft.com/office/powerpoint/2010/main" val="41341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10334-CB6E-5D80-8B9A-B4F23C3B1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FF31C95-C5AA-D00D-08FB-836330EF2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B94540-C0E5-DBE2-C66B-B2D92D858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70E54-574D-0D87-BEEC-C0D8DF3DD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pPr algn="ctr"/>
            <a:r>
              <a:rPr lang="en-US" sz="43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US" sz="4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PORTOFOLIO</a:t>
            </a:r>
          </a:p>
          <a:p>
            <a:pPr algn="just"/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Portofolio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jenis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end – to – end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menjelaskan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pengolahan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hingga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  <a:r>
              <a:rPr lang="en-US" sz="27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diakhir</a:t>
            </a:r>
            <a:r>
              <a:rPr lang="en-US" sz="27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1100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4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  <a:p>
            <a:pPr algn="just">
              <a:lnSpc>
                <a:spcPct val="120000"/>
              </a:lnSpc>
            </a:pPr>
            <a:r>
              <a:rPr lang="en-US" sz="2600" dirty="0" err="1">
                <a:solidFill>
                  <a:srgbClr val="FFFFFF"/>
                </a:solidFill>
              </a:rPr>
              <a:t>Seorang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lulusan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sistem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informasi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pengalaman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langsung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menjadi</a:t>
            </a:r>
            <a:r>
              <a:rPr lang="en-US" sz="2600" dirty="0">
                <a:solidFill>
                  <a:srgbClr val="FFFFFF"/>
                </a:solidFill>
              </a:rPr>
              <a:t> IT support yang </a:t>
            </a:r>
            <a:r>
              <a:rPr lang="en-US" sz="2600" dirty="0" err="1">
                <a:solidFill>
                  <a:srgbClr val="FFFFFF"/>
                </a:solidFill>
              </a:rPr>
              <a:t>melakukan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transisi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profesi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menjadi</a:t>
            </a:r>
            <a:r>
              <a:rPr lang="en-US" sz="2600" dirty="0">
                <a:solidFill>
                  <a:srgbClr val="FFFFFF"/>
                </a:solidFill>
              </a:rPr>
              <a:t> Data analyst,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mengikuti</a:t>
            </a:r>
            <a:r>
              <a:rPr lang="en-US" sz="2600" dirty="0">
                <a:solidFill>
                  <a:srgbClr val="FFFFFF"/>
                </a:solidFill>
              </a:rPr>
              <a:t> bootcamp dibimbing.id. </a:t>
            </a:r>
            <a:r>
              <a:rPr lang="en-US" sz="2600" dirty="0" err="1">
                <a:solidFill>
                  <a:srgbClr val="FFFFFF"/>
                </a:solidFill>
              </a:rPr>
              <a:t>Memiliki</a:t>
            </a:r>
            <a:r>
              <a:rPr lang="en-US" sz="2600" dirty="0">
                <a:solidFill>
                  <a:srgbClr val="FFFFFF"/>
                </a:solidFill>
              </a:rPr>
              <a:t> problem solving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keahlian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dalam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manajemen</a:t>
            </a:r>
            <a:r>
              <a:rPr lang="en-US" sz="2600" dirty="0">
                <a:solidFill>
                  <a:srgbClr val="FFFFFF"/>
                </a:solidFill>
              </a:rPr>
              <a:t> database (</a:t>
            </a:r>
            <a:r>
              <a:rPr lang="en-US" sz="2600" dirty="0" err="1">
                <a:solidFill>
                  <a:srgbClr val="FFFFFF"/>
                </a:solidFill>
              </a:rPr>
              <a:t>postgresql</a:t>
            </a:r>
            <a:r>
              <a:rPr lang="en-US" sz="2600" dirty="0">
                <a:solidFill>
                  <a:srgbClr val="FFFFFF"/>
                </a:solidFill>
              </a:rPr>
              <a:t>), data processing (python and excel), dan </a:t>
            </a:r>
            <a:r>
              <a:rPr lang="en-US" sz="2600" dirty="0" err="1">
                <a:solidFill>
                  <a:srgbClr val="FFFFFF"/>
                </a:solidFill>
              </a:rPr>
              <a:t>visualisasi</a:t>
            </a:r>
            <a:r>
              <a:rPr lang="en-US" sz="2600" dirty="0">
                <a:solidFill>
                  <a:srgbClr val="FFFFFF"/>
                </a:solidFill>
              </a:rPr>
              <a:t> data (Power bi). </a:t>
            </a:r>
            <a:r>
              <a:rPr lang="en-US" sz="2600" dirty="0" err="1">
                <a:solidFill>
                  <a:srgbClr val="FFFFFF"/>
                </a:solidFill>
              </a:rPr>
              <a:t>Mempunyai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pola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pikir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analisa</a:t>
            </a:r>
            <a:r>
              <a:rPr lang="en-US" sz="2600" dirty="0">
                <a:solidFill>
                  <a:srgbClr val="FFFFFF"/>
                </a:solidFill>
              </a:rPr>
              <a:t> yang </a:t>
            </a:r>
            <a:r>
              <a:rPr lang="en-US" sz="2600" dirty="0" err="1">
                <a:solidFill>
                  <a:srgbClr val="FFFFFF"/>
                </a:solidFill>
              </a:rPr>
              <a:t>kuat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pengalaman</a:t>
            </a:r>
            <a:r>
              <a:rPr lang="en-US" sz="2600" dirty="0">
                <a:solidFill>
                  <a:srgbClr val="FFFFFF"/>
                </a:solidFill>
              </a:rPr>
              <a:t> troubleshooting hardware, software, dan internet end user. </a:t>
            </a:r>
            <a:r>
              <a:rPr lang="en-US" sz="2600" dirty="0" err="1">
                <a:solidFill>
                  <a:srgbClr val="FFFFFF"/>
                </a:solidFill>
              </a:rPr>
              <a:t>Mempunyai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harapan</a:t>
            </a:r>
            <a:r>
              <a:rPr lang="en-US" sz="2600" dirty="0">
                <a:solidFill>
                  <a:srgbClr val="FFFFFF"/>
                </a:solidFill>
              </a:rPr>
              <a:t> agar </a:t>
            </a:r>
            <a:r>
              <a:rPr lang="en-US" sz="2600" dirty="0" err="1">
                <a:solidFill>
                  <a:srgbClr val="FFFFFF"/>
                </a:solidFill>
              </a:rPr>
              <a:t>bisa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menjadi</a:t>
            </a:r>
            <a:r>
              <a:rPr lang="en-US" sz="2600" dirty="0">
                <a:solidFill>
                  <a:srgbClr val="FFFFFF"/>
                </a:solidFill>
              </a:rPr>
              <a:t> data analyst yang </a:t>
            </a:r>
            <a:r>
              <a:rPr lang="en-US" sz="2600" dirty="0" err="1">
                <a:solidFill>
                  <a:srgbClr val="FFFFFF"/>
                </a:solidFill>
              </a:rPr>
              <a:t>mempunyai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nalar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hebat</a:t>
            </a:r>
            <a:r>
              <a:rPr lang="en-US" sz="2600" dirty="0">
                <a:solidFill>
                  <a:srgbClr val="FFFFFF"/>
                </a:solidFill>
              </a:rPr>
              <a:t> dan up to date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tools yang </a:t>
            </a:r>
            <a:r>
              <a:rPr lang="en-US" sz="2600" dirty="0" err="1">
                <a:solidFill>
                  <a:srgbClr val="FFFFFF"/>
                </a:solidFill>
              </a:rPr>
              <a:t>dipakai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dari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tahun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ke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tahun</a:t>
            </a:r>
            <a:r>
              <a:rPr lang="en-US" sz="2600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7C05B-88C0-69CA-B2C8-E4F4A8F1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0B5A7E5-BF3A-9C8F-A464-414DC08FA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4C0209-AF31-93B0-5354-587E82689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7CBE0-DFEA-03EE-371A-3D8610FAF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DAN SKILLS</a:t>
            </a:r>
          </a:p>
          <a:p>
            <a:r>
              <a:rPr lang="en-US" sz="2600" dirty="0" err="1">
                <a:solidFill>
                  <a:srgbClr val="FFFFFF"/>
                </a:solidFill>
              </a:rPr>
              <a:t>Menguasai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beberapa</a:t>
            </a:r>
            <a:r>
              <a:rPr lang="en-US" sz="2600" dirty="0">
                <a:solidFill>
                  <a:srgbClr val="FFFFFF"/>
                </a:solidFill>
              </a:rPr>
              <a:t> tools </a:t>
            </a:r>
            <a:r>
              <a:rPr lang="en-US" sz="2600" dirty="0" err="1">
                <a:solidFill>
                  <a:srgbClr val="FFFFFF"/>
                </a:solidFill>
              </a:rPr>
              <a:t>untuk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mengolah</a:t>
            </a:r>
            <a:r>
              <a:rPr lang="en-US" sz="2600" dirty="0">
                <a:solidFill>
                  <a:srgbClr val="FFFFFF"/>
                </a:solidFill>
              </a:rPr>
              <a:t> data, </a:t>
            </a:r>
            <a:r>
              <a:rPr lang="en-US" sz="2600" dirty="0" err="1">
                <a:solidFill>
                  <a:srgbClr val="FFFFFF"/>
                </a:solidFill>
              </a:rPr>
              <a:t>seperti</a:t>
            </a:r>
            <a:r>
              <a:rPr lang="en-US" sz="2600" dirty="0">
                <a:solidFill>
                  <a:srgbClr val="FFFFFF"/>
                </a:solidFill>
              </a:rPr>
              <a:t> :</a:t>
            </a:r>
            <a:br>
              <a:rPr lang="en-US" sz="2600" dirty="0">
                <a:solidFill>
                  <a:srgbClr val="FFFFFF"/>
                </a:solidFill>
              </a:rPr>
            </a:br>
            <a:endParaRPr lang="en-US" sz="2600" dirty="0">
              <a:solidFill>
                <a:srgbClr val="FFFFFF"/>
              </a:solidFill>
            </a:endParaRPr>
          </a:p>
          <a:p>
            <a:r>
              <a:rPr lang="en-US" sz="2600" dirty="0">
                <a:solidFill>
                  <a:srgbClr val="FFFFFF"/>
                </a:solidFill>
              </a:rPr>
              <a:t>Data Cleaning		Data manipulation	   VISUALIZATION</a:t>
            </a:r>
          </a:p>
        </p:txBody>
      </p:sp>
      <p:pic>
        <p:nvPicPr>
          <p:cNvPr id="4" name="Picture 3" descr="Python&#10;&#10;AI-generated content may be incorrect.">
            <a:extLst>
              <a:ext uri="{FF2B5EF4-FFF2-40B4-BE49-F238E27FC236}">
                <a16:creationId xmlns:a16="http://schemas.microsoft.com/office/drawing/2014/main" id="{2D352B0A-47ED-FF5C-11EA-A17AE2FEC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46" y="2775561"/>
            <a:ext cx="2329902" cy="1531538"/>
          </a:xfrm>
          <a:prstGeom prst="rect">
            <a:avLst/>
          </a:prstGeom>
        </p:spPr>
      </p:pic>
      <p:pic>
        <p:nvPicPr>
          <p:cNvPr id="6" name="Picture 5" descr="The image depicts a Power BI logo, featuring a yellow background with a black, rectangular button shape, and an icon of a yellow circle with a blue background, containing a graph or chart.&#10;&#10;AI-generated content may be incorrect.">
            <a:extLst>
              <a:ext uri="{FF2B5EF4-FFF2-40B4-BE49-F238E27FC236}">
                <a16:creationId xmlns:a16="http://schemas.microsoft.com/office/drawing/2014/main" id="{6EEE872C-E0A6-F72C-4CD4-4E668D5B5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806" y="2775561"/>
            <a:ext cx="1574680" cy="153153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1358768-7FFE-CA8F-2303-D9DF8518C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5813" y="2604286"/>
            <a:ext cx="1817296" cy="187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0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2DF03-63F5-EC2E-BA7E-D5F8C0CB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A021174-6355-030B-0295-D42D9369A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B8260B-9AEC-BE3E-2B5C-8808F2D63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BA04A-D211-F5E8-8B64-7408931AB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1</a:t>
            </a:r>
            <a:br>
              <a:rPr lang="en-US" sz="3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PENJUALAN PT.SUKAMUNDUR TAHUN 2023</a:t>
            </a:r>
          </a:p>
          <a:p>
            <a:r>
              <a:rPr lang="en-US" sz="2600" dirty="0">
                <a:solidFill>
                  <a:srgbClr val="FFFFFF"/>
                </a:solidFill>
              </a:rPr>
              <a:t>Pada project </a:t>
            </a:r>
            <a:r>
              <a:rPr lang="en-US" sz="2600" dirty="0" err="1">
                <a:solidFill>
                  <a:srgbClr val="FFFFFF"/>
                </a:solidFill>
              </a:rPr>
              <a:t>ini</a:t>
            </a:r>
            <a:r>
              <a:rPr lang="en-US" sz="2600" dirty="0">
                <a:solidFill>
                  <a:srgbClr val="FFFFFF"/>
                </a:solidFill>
              </a:rPr>
              <a:t>, </a:t>
            </a:r>
            <a:r>
              <a:rPr lang="en-US" sz="2600" dirty="0" err="1">
                <a:solidFill>
                  <a:srgbClr val="FFFFFF"/>
                </a:solidFill>
              </a:rPr>
              <a:t>saya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menggunakan</a:t>
            </a:r>
            <a:r>
              <a:rPr lang="en-US" sz="2600" dirty="0">
                <a:solidFill>
                  <a:srgbClr val="FFFFFF"/>
                </a:solidFill>
              </a:rPr>
              <a:t> dataset excel sales data 2023 dan product data pt </a:t>
            </a:r>
            <a:r>
              <a:rPr lang="en-US" sz="2600" dirty="0" err="1">
                <a:solidFill>
                  <a:srgbClr val="FFFFFF"/>
                </a:solidFill>
              </a:rPr>
              <a:t>sukamundur</a:t>
            </a:r>
            <a:r>
              <a:rPr lang="en-US" sz="2600" dirty="0">
                <a:solidFill>
                  <a:srgbClr val="FFFFFF"/>
                </a:solidFill>
              </a:rPr>
              <a:t> guna </a:t>
            </a:r>
            <a:r>
              <a:rPr lang="en-US" sz="2600" dirty="0" err="1">
                <a:solidFill>
                  <a:srgbClr val="FFFFFF"/>
                </a:solidFill>
              </a:rPr>
              <a:t>mencari</a:t>
            </a:r>
            <a:r>
              <a:rPr lang="en-US" sz="2600" dirty="0">
                <a:solidFill>
                  <a:srgbClr val="FFFFFF"/>
                </a:solidFill>
              </a:rPr>
              <a:t> insight </a:t>
            </a:r>
            <a:r>
              <a:rPr lang="en-US" sz="2600" dirty="0" err="1">
                <a:solidFill>
                  <a:srgbClr val="FFFFFF"/>
                </a:solidFill>
              </a:rPr>
              <a:t>seperti</a:t>
            </a:r>
            <a:r>
              <a:rPr lang="en-US" sz="2600" dirty="0">
                <a:solidFill>
                  <a:srgbClr val="FFFFFF"/>
                </a:solidFill>
              </a:rPr>
              <a:t> total revenue, total cost, profit, total revenue by product category, revenue trend by month, dan order volume by shipping mode </a:t>
            </a:r>
            <a:r>
              <a:rPr lang="en-US" sz="2600" dirty="0" err="1">
                <a:solidFill>
                  <a:srgbClr val="FFFFFF"/>
                </a:solidFill>
              </a:rPr>
              <a:t>menggunakan</a:t>
            </a:r>
            <a:r>
              <a:rPr lang="en-US" sz="2600" dirty="0">
                <a:solidFill>
                  <a:srgbClr val="FFFFFF"/>
                </a:solidFill>
              </a:rPr>
              <a:t> power BI.</a:t>
            </a:r>
          </a:p>
          <a:p>
            <a:endParaRPr lang="en-US" sz="2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10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94A8D-4B93-65FF-F853-ABCABFF4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8D9A154-33E0-B2CC-CDF2-D216A425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5FFCC9-868D-8F54-2F18-D754EC156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0DC23-01B5-6D56-9E92-904FDC798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Data preparation dan data understanding</a:t>
            </a:r>
          </a:p>
          <a:p>
            <a:r>
              <a:rPr lang="en-US" sz="2600" dirty="0">
                <a:solidFill>
                  <a:srgbClr val="FFFFFF"/>
                </a:solidFill>
              </a:rPr>
              <a:t>Pada proses </a:t>
            </a:r>
            <a:r>
              <a:rPr lang="en-US" sz="2600" dirty="0" err="1">
                <a:solidFill>
                  <a:srgbClr val="FFFFFF"/>
                </a:solidFill>
              </a:rPr>
              <a:t>pertama</a:t>
            </a:r>
            <a:r>
              <a:rPr lang="en-US" sz="2600" dirty="0">
                <a:solidFill>
                  <a:srgbClr val="FFFFFF"/>
                </a:solidFill>
              </a:rPr>
              <a:t> Adalah insert sales data (</a:t>
            </a:r>
            <a:r>
              <a:rPr lang="en-US" sz="2600" dirty="0" err="1">
                <a:solidFill>
                  <a:srgbClr val="FFFFFF"/>
                </a:solidFill>
              </a:rPr>
              <a:t>hanya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pilih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tahun</a:t>
            </a:r>
            <a:r>
              <a:rPr lang="en-US" sz="2600" dirty="0">
                <a:solidFill>
                  <a:srgbClr val="FFFFFF"/>
                </a:solidFill>
              </a:rPr>
              <a:t> 2023) dan product data </a:t>
            </a:r>
            <a:r>
              <a:rPr lang="en-US" sz="2600" dirty="0" err="1">
                <a:solidFill>
                  <a:srgbClr val="FFFFFF"/>
                </a:solidFill>
              </a:rPr>
              <a:t>ke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dalam</a:t>
            </a:r>
            <a:r>
              <a:rPr lang="en-US" sz="2600" dirty="0">
                <a:solidFill>
                  <a:srgbClr val="FFFFFF"/>
                </a:solidFill>
              </a:rPr>
              <a:t> power bi.</a:t>
            </a:r>
          </a:p>
        </p:txBody>
      </p:sp>
      <p:pic>
        <p:nvPicPr>
          <p:cNvPr id="4" name="Picture 3" descr="The image shows a data table in Excel format with columns for invoice number, order date, customer name, and order month, displaying sales data for various customers in January 2023.&#10;&#10;AI-generated content may be incorrect.">
            <a:extLst>
              <a:ext uri="{FF2B5EF4-FFF2-40B4-BE49-F238E27FC236}">
                <a16:creationId xmlns:a16="http://schemas.microsoft.com/office/drawing/2014/main" id="{D011D049-CCF0-5DE7-8A4E-5A1205F96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08" y="2158134"/>
            <a:ext cx="5070867" cy="4052793"/>
          </a:xfrm>
          <a:prstGeom prst="rect">
            <a:avLst/>
          </a:prstGeom>
        </p:spPr>
      </p:pic>
      <p:pic>
        <p:nvPicPr>
          <p:cNvPr id="6" name="Picture 5" descr="The image displays a spreadsheet in Microsoft Excel, listing various beauty and skincare products with their IDs, names, categories, and cost per unit.&#10;&#10;AI-generated content may be incorrect.">
            <a:extLst>
              <a:ext uri="{FF2B5EF4-FFF2-40B4-BE49-F238E27FC236}">
                <a16:creationId xmlns:a16="http://schemas.microsoft.com/office/drawing/2014/main" id="{76CE2CF7-3C90-7170-7316-464AA26DF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55" y="2176351"/>
            <a:ext cx="5134203" cy="403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78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B6357-9526-4A4E-BC81-5F34287D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70FFC8F-8AEE-FBDF-70E9-236B3586D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B188ED1-2787-1E5A-509E-BB4A33CC8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E02D9-DAB2-068C-72C8-B4526C986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Data preparation dan data understanding</a:t>
            </a:r>
          </a:p>
          <a:p>
            <a:pPr algn="just"/>
            <a:r>
              <a:rPr lang="en-US" dirty="0" err="1">
                <a:solidFill>
                  <a:srgbClr val="FFFFFF"/>
                </a:solidFill>
              </a:rPr>
              <a:t>Setelah</a:t>
            </a:r>
            <a:r>
              <a:rPr lang="en-US" dirty="0">
                <a:solidFill>
                  <a:srgbClr val="FFFFFF"/>
                </a:solidFill>
              </a:rPr>
              <a:t> data </a:t>
            </a:r>
            <a:r>
              <a:rPr lang="en-US" dirty="0" err="1">
                <a:solidFill>
                  <a:srgbClr val="FFFFFF"/>
                </a:solidFill>
              </a:rPr>
              <a:t>masuk</a:t>
            </a:r>
            <a:r>
              <a:rPr lang="en-US" dirty="0">
                <a:solidFill>
                  <a:srgbClr val="FFFFFF"/>
                </a:solidFill>
              </a:rPr>
              <a:t>, </a:t>
            </a:r>
            <a:r>
              <a:rPr lang="en-US" dirty="0" err="1">
                <a:solidFill>
                  <a:srgbClr val="FFFFFF"/>
                </a:solidFill>
              </a:rPr>
              <a:t>saya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melakukan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relasi</a:t>
            </a:r>
            <a:r>
              <a:rPr lang="en-US" dirty="0">
                <a:solidFill>
                  <a:srgbClr val="FFFFFF"/>
                </a:solidFill>
              </a:rPr>
              <a:t> table guna </a:t>
            </a:r>
            <a:r>
              <a:rPr lang="en-US" dirty="0" err="1">
                <a:solidFill>
                  <a:srgbClr val="FFFFFF"/>
                </a:solidFill>
              </a:rPr>
              <a:t>keperluan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membuat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dax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antar</a:t>
            </a:r>
            <a:r>
              <a:rPr lang="en-US" dirty="0">
                <a:solidFill>
                  <a:srgbClr val="FFFFFF"/>
                </a:solidFill>
              </a:rPr>
              <a:t> table 2023 dan product data </a:t>
            </a:r>
            <a:r>
              <a:rPr lang="en-US" dirty="0" err="1">
                <a:solidFill>
                  <a:srgbClr val="FFFFFF"/>
                </a:solidFill>
              </a:rPr>
              <a:t>dengan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relasi</a:t>
            </a:r>
            <a:r>
              <a:rPr lang="en-US" dirty="0">
                <a:solidFill>
                  <a:srgbClr val="FFFFFF"/>
                </a:solidFill>
              </a:rPr>
              <a:t> one to many pada table 2023 dan table product data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01499FC-B9CA-7582-7F17-6A6DE357F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287" y="2530669"/>
            <a:ext cx="7839947" cy="4154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31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0F865-5F5C-EF68-286E-8A6A16931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4756A6D-3D29-3EE8-4DBC-F61E2B150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80FA7B6-EC26-C009-95B2-58D273CF5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67CC3-3C92-A97C-50E3-1FD2F9044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Data preparation dan data understanding</a:t>
            </a:r>
          </a:p>
          <a:p>
            <a:r>
              <a:rPr lang="en-US" sz="2600" dirty="0">
                <a:solidFill>
                  <a:srgbClr val="FFFFFF"/>
                </a:solidFill>
              </a:rPr>
              <a:t>Proses </a:t>
            </a:r>
            <a:r>
              <a:rPr lang="en-US" sz="2600" dirty="0" err="1">
                <a:solidFill>
                  <a:srgbClr val="FFFFFF"/>
                </a:solidFill>
              </a:rPr>
              <a:t>selanjutnya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membuat</a:t>
            </a:r>
            <a:r>
              <a:rPr lang="en-US" sz="2600" dirty="0">
                <a:solidFill>
                  <a:srgbClr val="FFFFFF"/>
                </a:solidFill>
              </a:rPr>
              <a:t> measure table guna </a:t>
            </a:r>
            <a:r>
              <a:rPr lang="en-US" sz="2600" dirty="0" err="1">
                <a:solidFill>
                  <a:srgbClr val="FFFFFF"/>
                </a:solidFill>
              </a:rPr>
              <a:t>sebagai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wadah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untuk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menampung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dax</a:t>
            </a:r>
            <a:r>
              <a:rPr lang="en-US" sz="2600" dirty="0">
                <a:solidFill>
                  <a:srgbClr val="FFFFFF"/>
                </a:solidFill>
              </a:rPr>
              <a:t>/</a:t>
            </a:r>
            <a:r>
              <a:rPr lang="en-US" sz="2600" dirty="0" err="1">
                <a:solidFill>
                  <a:srgbClr val="FFFFFF"/>
                </a:solidFill>
              </a:rPr>
              <a:t>rumus-rumus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untuk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menghitung</a:t>
            </a:r>
            <a:r>
              <a:rPr lang="en-US" sz="2600" dirty="0">
                <a:solidFill>
                  <a:srgbClr val="FFFFFF"/>
                </a:solidFill>
              </a:rPr>
              <a:t> row data.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34BDF7-8D22-EEFC-D7C1-39A91235D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46" y="2929800"/>
            <a:ext cx="5325924" cy="133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113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06159-BFDE-6876-1DF2-88119372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F4418B-E42B-3029-3A05-C4E0DCBEB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144663-5CC2-B375-AAB6-5801D9AB7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FA3D-5F60-25C5-EAD2-EA9A5568E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Proses </a:t>
            </a:r>
            <a:r>
              <a:rPr lang="en-US" sz="3700" b="1" dirty="0" err="1">
                <a:solidFill>
                  <a:srgbClr val="FFFFFF"/>
                </a:solidFill>
              </a:rPr>
              <a:t>analisis</a:t>
            </a:r>
            <a:r>
              <a:rPr lang="en-US" sz="3700" b="1" dirty="0">
                <a:solidFill>
                  <a:srgbClr val="FFFFFF"/>
                </a:solidFill>
              </a:rPr>
              <a:t> data </a:t>
            </a:r>
          </a:p>
          <a:p>
            <a:r>
              <a:rPr lang="en-US" sz="2600" dirty="0">
                <a:solidFill>
                  <a:srgbClr val="FFFFFF"/>
                </a:solidFill>
              </a:rPr>
              <a:t>Di </a:t>
            </a:r>
            <a:r>
              <a:rPr lang="en-US" sz="2600" dirty="0" err="1">
                <a:solidFill>
                  <a:srgbClr val="FFFFFF"/>
                </a:solidFill>
              </a:rPr>
              <a:t>dalam</a:t>
            </a:r>
            <a:r>
              <a:rPr lang="en-US" sz="2600" dirty="0">
                <a:solidFill>
                  <a:srgbClr val="FFFFFF"/>
                </a:solidFill>
              </a:rPr>
              <a:t> measure table, </a:t>
            </a:r>
            <a:r>
              <a:rPr lang="en-US" sz="2600" dirty="0" err="1">
                <a:solidFill>
                  <a:srgbClr val="FFFFFF"/>
                </a:solidFill>
              </a:rPr>
              <a:t>saya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membuat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dax</a:t>
            </a:r>
            <a:r>
              <a:rPr lang="en-US" sz="2600" dirty="0">
                <a:solidFill>
                  <a:srgbClr val="FFFFFF"/>
                </a:solidFill>
              </a:rPr>
              <a:t> total revenue </a:t>
            </a:r>
            <a:r>
              <a:rPr lang="en-US" sz="2600" dirty="0" err="1">
                <a:solidFill>
                  <a:srgbClr val="FFFFFF"/>
                </a:solidFill>
              </a:rPr>
              <a:t>untuk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menghitung</a:t>
            </a:r>
            <a:r>
              <a:rPr lang="en-US" sz="2600" dirty="0">
                <a:solidFill>
                  <a:srgbClr val="FFFFFF"/>
                </a:solidFill>
              </a:rPr>
              <a:t> total </a:t>
            </a:r>
            <a:r>
              <a:rPr lang="en-US" sz="2600" dirty="0" err="1">
                <a:solidFill>
                  <a:srgbClr val="FFFFFF"/>
                </a:solidFill>
              </a:rPr>
              <a:t>pendapatan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pt.sukamundur</a:t>
            </a:r>
            <a:r>
              <a:rPr lang="en-US" sz="2600" dirty="0">
                <a:solidFill>
                  <a:srgbClr val="FFFFFF"/>
                </a:solidFill>
              </a:rPr>
              <a:t>. </a:t>
            </a:r>
            <a:r>
              <a:rPr lang="en-US" sz="2600" dirty="0" err="1">
                <a:solidFill>
                  <a:srgbClr val="FFFFFF"/>
                </a:solidFill>
              </a:rPr>
              <a:t>Rumus</a:t>
            </a:r>
            <a:r>
              <a:rPr lang="en-US" sz="2600" dirty="0">
                <a:solidFill>
                  <a:srgbClr val="FFFFFF"/>
                </a:solidFill>
              </a:rPr>
              <a:t> yang </a:t>
            </a:r>
            <a:r>
              <a:rPr lang="en-US" sz="2600" dirty="0" err="1">
                <a:solidFill>
                  <a:srgbClr val="FFFFFF"/>
                </a:solidFill>
              </a:rPr>
              <a:t>digunakan</a:t>
            </a:r>
            <a:r>
              <a:rPr lang="en-US" sz="2600" dirty="0">
                <a:solidFill>
                  <a:srgbClr val="FFFFFF"/>
                </a:solidFill>
              </a:rPr>
              <a:t> Adalah </a:t>
            </a:r>
            <a:r>
              <a:rPr lang="en-US" sz="2600" dirty="0" err="1">
                <a:solidFill>
                  <a:srgbClr val="FFFFFF"/>
                </a:solidFill>
              </a:rPr>
              <a:t>sumx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karena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akan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melaukan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perkalian</a:t>
            </a:r>
            <a:r>
              <a:rPr lang="en-US" sz="2600" dirty="0">
                <a:solidFill>
                  <a:srgbClr val="FFFFFF"/>
                </a:solidFill>
              </a:rPr>
              <a:t> quantity </a:t>
            </a:r>
            <a:r>
              <a:rPr lang="en-US" sz="2600" dirty="0" err="1">
                <a:solidFill>
                  <a:srgbClr val="FFFFFF"/>
                </a:solidFill>
              </a:rPr>
              <a:t>dari</a:t>
            </a:r>
            <a:r>
              <a:rPr lang="en-US" sz="2600" dirty="0">
                <a:solidFill>
                  <a:srgbClr val="FFFFFF"/>
                </a:solidFill>
              </a:rPr>
              <a:t> table 2023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selling price per unit </a:t>
            </a:r>
            <a:r>
              <a:rPr lang="en-US" sz="2600" dirty="0" err="1">
                <a:solidFill>
                  <a:srgbClr val="FFFFFF"/>
                </a:solidFill>
              </a:rPr>
              <a:t>dari</a:t>
            </a:r>
            <a:r>
              <a:rPr lang="en-US" sz="2600" dirty="0">
                <a:solidFill>
                  <a:srgbClr val="FFFFFF"/>
                </a:solidFill>
              </a:rPr>
              <a:t> table Product data related.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84D790-68EE-0543-6CDF-6B8532D9F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40" y="3763407"/>
            <a:ext cx="7223761" cy="118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979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F8813-1991-255B-A82C-D036BE4C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C72C6BC-31B3-6DEF-E3C0-B2EBEF6C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4AB971-3D11-DEB8-DB35-3EC98842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5FCD5-EF82-F55E-39BA-909CF773E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Proses </a:t>
            </a:r>
            <a:r>
              <a:rPr lang="en-US" sz="3700" b="1" dirty="0" err="1">
                <a:solidFill>
                  <a:srgbClr val="FFFFFF"/>
                </a:solidFill>
              </a:rPr>
              <a:t>analisis</a:t>
            </a:r>
            <a:r>
              <a:rPr lang="en-US" sz="3700" b="1" dirty="0">
                <a:solidFill>
                  <a:srgbClr val="FFFFFF"/>
                </a:solidFill>
              </a:rPr>
              <a:t> data </a:t>
            </a:r>
          </a:p>
          <a:p>
            <a:r>
              <a:rPr lang="en-US" sz="2600" dirty="0" err="1">
                <a:solidFill>
                  <a:srgbClr val="FFFFFF"/>
                </a:solidFill>
              </a:rPr>
              <a:t>Selanjutnya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membuat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dax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untuk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melihat</a:t>
            </a:r>
            <a:r>
              <a:rPr lang="en-US" sz="2600" dirty="0">
                <a:solidFill>
                  <a:srgbClr val="FFFFFF"/>
                </a:solidFill>
              </a:rPr>
              <a:t> total </a:t>
            </a:r>
            <a:r>
              <a:rPr lang="en-US" sz="2600" dirty="0" err="1">
                <a:solidFill>
                  <a:srgbClr val="FFFFFF"/>
                </a:solidFill>
              </a:rPr>
              <a:t>pengeluaran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pt.sukamundur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selama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tahun</a:t>
            </a:r>
            <a:r>
              <a:rPr lang="en-US" sz="2600" dirty="0">
                <a:solidFill>
                  <a:srgbClr val="FFFFFF"/>
                </a:solidFill>
              </a:rPr>
              <a:t> 2023. </a:t>
            </a:r>
            <a:r>
              <a:rPr lang="en-US" sz="2600" dirty="0" err="1">
                <a:solidFill>
                  <a:srgbClr val="FFFFFF"/>
                </a:solidFill>
              </a:rPr>
              <a:t>rumus</a:t>
            </a:r>
            <a:r>
              <a:rPr lang="en-US" sz="2600" dirty="0">
                <a:solidFill>
                  <a:srgbClr val="FFFFFF"/>
                </a:solidFill>
              </a:rPr>
              <a:t> yang </a:t>
            </a:r>
            <a:r>
              <a:rPr lang="en-US" sz="2600" dirty="0" err="1">
                <a:solidFill>
                  <a:srgbClr val="FFFFFF"/>
                </a:solidFill>
              </a:rPr>
              <a:t>digunakan</a:t>
            </a:r>
            <a:r>
              <a:rPr lang="en-US" sz="2600" dirty="0">
                <a:solidFill>
                  <a:srgbClr val="FFFFFF"/>
                </a:solidFill>
              </a:rPr>
              <a:t> Adalah </a:t>
            </a:r>
            <a:r>
              <a:rPr lang="en-US" sz="2600" dirty="0" err="1">
                <a:solidFill>
                  <a:srgbClr val="FFFFFF"/>
                </a:solidFill>
              </a:rPr>
              <a:t>sumx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karena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akan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melakukan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perkalian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dari</a:t>
            </a:r>
            <a:r>
              <a:rPr lang="en-US" sz="2600" dirty="0">
                <a:solidFill>
                  <a:srgbClr val="FFFFFF"/>
                </a:solidFill>
              </a:rPr>
              <a:t> row quantity di table 2023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cost per unit di table product data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menambahkan</a:t>
            </a:r>
            <a:r>
              <a:rPr lang="en-US" sz="2600" dirty="0">
                <a:solidFill>
                  <a:srgbClr val="FFFFFF"/>
                </a:solidFill>
              </a:rPr>
              <a:t> related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7C99297-BEBB-DAFF-0D8A-9F7A87E20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98" y="3974621"/>
            <a:ext cx="7320371" cy="97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660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6B9A9-5B09-0D02-437B-04BBA4A7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00826B1-BF07-E91F-2F8E-BEB70C5B6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6C6C1C-58F0-8CCF-5202-E3C658A73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623D1-1A95-DF09-5C53-E2E85E13C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Proses </a:t>
            </a:r>
            <a:r>
              <a:rPr lang="en-US" sz="3700" b="1" dirty="0" err="1">
                <a:solidFill>
                  <a:srgbClr val="FFFFFF"/>
                </a:solidFill>
              </a:rPr>
              <a:t>analisis</a:t>
            </a:r>
            <a:r>
              <a:rPr lang="en-US" sz="3700" b="1" dirty="0">
                <a:solidFill>
                  <a:srgbClr val="FFFFFF"/>
                </a:solidFill>
              </a:rPr>
              <a:t> data </a:t>
            </a:r>
          </a:p>
          <a:p>
            <a:r>
              <a:rPr lang="en-US" sz="2600" dirty="0">
                <a:solidFill>
                  <a:srgbClr val="FFFFFF"/>
                </a:solidFill>
              </a:rPr>
              <a:t>Dax </a:t>
            </a:r>
            <a:r>
              <a:rPr lang="en-US" sz="2600" dirty="0" err="1">
                <a:solidFill>
                  <a:srgbClr val="FFFFFF"/>
                </a:solidFill>
              </a:rPr>
              <a:t>terakhir</a:t>
            </a:r>
            <a:r>
              <a:rPr lang="en-US" sz="2600" dirty="0">
                <a:solidFill>
                  <a:srgbClr val="FFFFFF"/>
                </a:solidFill>
              </a:rPr>
              <a:t> yang </a:t>
            </a:r>
            <a:r>
              <a:rPr lang="en-US" sz="2600" dirty="0" err="1">
                <a:solidFill>
                  <a:srgbClr val="FFFFFF"/>
                </a:solidFill>
              </a:rPr>
              <a:t>akan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dibuat</a:t>
            </a:r>
            <a:r>
              <a:rPr lang="en-US" sz="2600" dirty="0">
                <a:solidFill>
                  <a:srgbClr val="FFFFFF"/>
                </a:solidFill>
              </a:rPr>
              <a:t> Adalah profit </a:t>
            </a:r>
            <a:r>
              <a:rPr lang="en-US" sz="2600" dirty="0" err="1">
                <a:solidFill>
                  <a:srgbClr val="FFFFFF"/>
                </a:solidFill>
              </a:rPr>
              <a:t>untuk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melihat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keuntungan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pt.sukamundur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selama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tahun</a:t>
            </a:r>
            <a:r>
              <a:rPr lang="en-US" sz="2600" dirty="0">
                <a:solidFill>
                  <a:srgbClr val="FFFFFF"/>
                </a:solidFill>
              </a:rPr>
              <a:t> 2023. </a:t>
            </a:r>
            <a:r>
              <a:rPr lang="en-US" sz="2600" dirty="0" err="1">
                <a:solidFill>
                  <a:srgbClr val="FFFFFF"/>
                </a:solidFill>
              </a:rPr>
              <a:t>rumus</a:t>
            </a:r>
            <a:r>
              <a:rPr lang="en-US" sz="2600" dirty="0">
                <a:solidFill>
                  <a:srgbClr val="FFFFFF"/>
                </a:solidFill>
              </a:rPr>
              <a:t> yang </a:t>
            </a:r>
            <a:r>
              <a:rPr lang="en-US" sz="2600" dirty="0" err="1">
                <a:solidFill>
                  <a:srgbClr val="FFFFFF"/>
                </a:solidFill>
              </a:rPr>
              <a:t>digunakan</a:t>
            </a:r>
            <a:r>
              <a:rPr lang="en-US" sz="2600" dirty="0">
                <a:solidFill>
                  <a:srgbClr val="FFFFFF"/>
                </a:solidFill>
              </a:rPr>
              <a:t> Adalah </a:t>
            </a:r>
            <a:r>
              <a:rPr lang="en-US" sz="2600" dirty="0" err="1">
                <a:solidFill>
                  <a:srgbClr val="FFFFFF"/>
                </a:solidFill>
              </a:rPr>
              <a:t>sumx</a:t>
            </a:r>
            <a:r>
              <a:rPr lang="en-US" sz="2600" dirty="0">
                <a:solidFill>
                  <a:srgbClr val="FFFFFF"/>
                </a:solidFill>
              </a:rPr>
              <a:t>. </a:t>
            </a:r>
            <a:r>
              <a:rPr lang="en-US" sz="2600" dirty="0" err="1">
                <a:solidFill>
                  <a:srgbClr val="FFFFFF"/>
                </a:solidFill>
              </a:rPr>
              <a:t>Sebelum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melakukan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perkalian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quantity </a:t>
            </a:r>
            <a:r>
              <a:rPr lang="en-US" sz="2600" dirty="0" err="1">
                <a:solidFill>
                  <a:srgbClr val="FFFFFF"/>
                </a:solidFill>
              </a:rPr>
              <a:t>dari</a:t>
            </a:r>
            <a:r>
              <a:rPr lang="en-US" sz="2600" dirty="0">
                <a:solidFill>
                  <a:srgbClr val="FFFFFF"/>
                </a:solidFill>
              </a:rPr>
              <a:t> table 2023, selling price per unit </a:t>
            </a:r>
            <a:r>
              <a:rPr lang="en-US" sz="2600" dirty="0" err="1">
                <a:solidFill>
                  <a:srgbClr val="FFFFFF"/>
                </a:solidFill>
              </a:rPr>
              <a:t>akan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dikurangi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dahulu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dengan</a:t>
            </a:r>
            <a:r>
              <a:rPr lang="en-US" sz="2600" dirty="0">
                <a:solidFill>
                  <a:srgbClr val="FFFFFF"/>
                </a:solidFill>
              </a:rPr>
              <a:t> row cost per unit </a:t>
            </a:r>
            <a:r>
              <a:rPr lang="en-US" sz="2600" dirty="0" err="1">
                <a:solidFill>
                  <a:srgbClr val="FFFFFF"/>
                </a:solidFill>
              </a:rPr>
              <a:t>dari</a:t>
            </a:r>
            <a:r>
              <a:rPr lang="en-US" sz="2600" dirty="0">
                <a:solidFill>
                  <a:srgbClr val="FFFFFF"/>
                </a:solidFill>
              </a:rPr>
              <a:t> table product data. 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5255F0C-166B-A045-B946-3555C082D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96" y="3826444"/>
            <a:ext cx="9968958" cy="112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504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886F4-8070-20CD-346E-D2288E2A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98BE71D-6A78-8500-7264-1A18FF884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A7BF84-789A-726A-E4DB-6BE32A97A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42D69-3C37-7293-BBD9-B8D8803EC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Insight </a:t>
            </a:r>
            <a:r>
              <a:rPr lang="en-US" sz="3700" b="1" dirty="0" err="1">
                <a:solidFill>
                  <a:srgbClr val="FFFFFF"/>
                </a:solidFill>
              </a:rPr>
              <a:t>hasil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  <a:r>
              <a:rPr lang="en-US" sz="3700" b="1" dirty="0" err="1">
                <a:solidFill>
                  <a:srgbClr val="FFFFFF"/>
                </a:solidFill>
              </a:rPr>
              <a:t>analisis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</a:p>
          <a:p>
            <a:pPr algn="just"/>
            <a:r>
              <a:rPr lang="en-US" sz="2600" dirty="0">
                <a:solidFill>
                  <a:srgbClr val="FFFFFF"/>
                </a:solidFill>
              </a:rPr>
              <a:t>Pada total revenue, </a:t>
            </a:r>
            <a:r>
              <a:rPr lang="en-US" sz="2600" dirty="0" err="1">
                <a:solidFill>
                  <a:srgbClr val="FFFFFF"/>
                </a:solidFill>
              </a:rPr>
              <a:t>pt.sukamundur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mendapat</a:t>
            </a:r>
            <a:r>
              <a:rPr lang="en-US" sz="2600" dirty="0">
                <a:solidFill>
                  <a:srgbClr val="FFFFFF"/>
                </a:solidFill>
              </a:rPr>
              <a:t> 127M, total cost </a:t>
            </a:r>
            <a:r>
              <a:rPr lang="en-US" sz="2600" dirty="0" err="1">
                <a:solidFill>
                  <a:srgbClr val="FFFFFF"/>
                </a:solidFill>
              </a:rPr>
              <a:t>mendapat</a:t>
            </a:r>
            <a:r>
              <a:rPr lang="en-US" sz="2600" dirty="0">
                <a:solidFill>
                  <a:srgbClr val="FFFFFF"/>
                </a:solidFill>
              </a:rPr>
              <a:t> 66m, dan profit/</a:t>
            </a:r>
            <a:r>
              <a:rPr lang="en-US" sz="2600" dirty="0" err="1">
                <a:solidFill>
                  <a:srgbClr val="FFFFFF"/>
                </a:solidFill>
              </a:rPr>
              <a:t>keuntungan</a:t>
            </a:r>
            <a:r>
              <a:rPr lang="en-US" sz="2600" dirty="0">
                <a:solidFill>
                  <a:srgbClr val="FFFFFF"/>
                </a:solidFill>
              </a:rPr>
              <a:t> yang </a:t>
            </a:r>
            <a:r>
              <a:rPr lang="en-US" sz="2600" dirty="0" err="1">
                <a:solidFill>
                  <a:srgbClr val="FFFFFF"/>
                </a:solidFill>
              </a:rPr>
              <a:t>diperoleh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pt.sukamundur</a:t>
            </a:r>
            <a:r>
              <a:rPr lang="en-US" sz="2600" dirty="0">
                <a:solidFill>
                  <a:srgbClr val="FFFFFF"/>
                </a:solidFill>
              </a:rPr>
              <a:t> Adalah 61m. Data yang </a:t>
            </a:r>
            <a:r>
              <a:rPr lang="en-US" sz="2600" dirty="0" err="1">
                <a:solidFill>
                  <a:srgbClr val="FFFFFF"/>
                </a:solidFill>
              </a:rPr>
              <a:t>dipakai</a:t>
            </a:r>
            <a:r>
              <a:rPr lang="en-US" sz="2600" dirty="0">
                <a:solidFill>
                  <a:srgbClr val="FFFFFF"/>
                </a:solidFill>
              </a:rPr>
              <a:t> Adalah </a:t>
            </a:r>
            <a:r>
              <a:rPr lang="en-US" sz="2600" dirty="0" err="1">
                <a:solidFill>
                  <a:srgbClr val="FFFFFF"/>
                </a:solidFill>
              </a:rPr>
              <a:t>dax</a:t>
            </a:r>
            <a:r>
              <a:rPr lang="en-US" sz="2600" dirty="0">
                <a:solidFill>
                  <a:srgbClr val="FFFFFF"/>
                </a:solidFill>
              </a:rPr>
              <a:t> total revenue, total cost, dan profit. </a:t>
            </a:r>
            <a:r>
              <a:rPr lang="en-US" sz="2600" dirty="0" err="1">
                <a:solidFill>
                  <a:srgbClr val="FFFFFF"/>
                </a:solidFill>
              </a:rPr>
              <a:t>Visualisasi</a:t>
            </a:r>
            <a:r>
              <a:rPr lang="en-US" sz="2600" dirty="0">
                <a:solidFill>
                  <a:srgbClr val="FFFFFF"/>
                </a:solidFill>
              </a:rPr>
              <a:t> yang </a:t>
            </a:r>
            <a:r>
              <a:rPr lang="en-US" sz="2600" dirty="0" err="1">
                <a:solidFill>
                  <a:srgbClr val="FFFFFF"/>
                </a:solidFill>
              </a:rPr>
              <a:t>dipakai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merupakan</a:t>
            </a:r>
            <a:r>
              <a:rPr lang="en-US" sz="2600" dirty="0">
                <a:solidFill>
                  <a:srgbClr val="FFFFFF"/>
                </a:solidFill>
              </a:rPr>
              <a:t> card.</a:t>
            </a:r>
          </a:p>
        </p:txBody>
      </p:sp>
      <p:pic>
        <p:nvPicPr>
          <p:cNvPr id="6" name="Picture 5" descr="The image displays a financial summary with figures for revenue and cost, showing a total revenue of 127M, a cost of 66M, and a profit of 61M.&#10;&#10;AI-generated content may be incorrect.">
            <a:extLst>
              <a:ext uri="{FF2B5EF4-FFF2-40B4-BE49-F238E27FC236}">
                <a16:creationId xmlns:a16="http://schemas.microsoft.com/office/drawing/2014/main" id="{A0249E95-6BF3-F8A7-CC57-384AF347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10" y="3629670"/>
            <a:ext cx="5877745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84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6651D-4B2C-B5E8-880A-FA67AE017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307C2DE-225D-FC0E-8A06-689590219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4B04095-E6A1-0917-215F-1D9CB3CA6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C2A7-C71F-7D41-8127-586D0CB93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Insight </a:t>
            </a:r>
            <a:r>
              <a:rPr lang="en-US" sz="3700" b="1" dirty="0" err="1">
                <a:solidFill>
                  <a:srgbClr val="FFFFFF"/>
                </a:solidFill>
              </a:rPr>
              <a:t>hasil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  <a:r>
              <a:rPr lang="en-US" sz="3700" b="1" dirty="0" err="1">
                <a:solidFill>
                  <a:srgbClr val="FFFFFF"/>
                </a:solidFill>
              </a:rPr>
              <a:t>analisis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</a:p>
          <a:p>
            <a:pPr algn="just"/>
            <a:r>
              <a:rPr lang="en-US" dirty="0">
                <a:solidFill>
                  <a:srgbClr val="FFFFFF"/>
                </a:solidFill>
              </a:rPr>
              <a:t>Pada total revenue by category, skincare </a:t>
            </a:r>
            <a:r>
              <a:rPr lang="en-US" dirty="0" err="1">
                <a:solidFill>
                  <a:srgbClr val="FFFFFF"/>
                </a:solidFill>
              </a:rPr>
              <a:t>merupakan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kategori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dengan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pendapatan</a:t>
            </a:r>
            <a:r>
              <a:rPr lang="en-US" dirty="0">
                <a:solidFill>
                  <a:srgbClr val="FFFFFF"/>
                </a:solidFill>
              </a:rPr>
              <a:t> paling </a:t>
            </a:r>
            <a:r>
              <a:rPr lang="en-US" dirty="0" err="1">
                <a:solidFill>
                  <a:srgbClr val="FFFFFF"/>
                </a:solidFill>
              </a:rPr>
              <a:t>tinggi</a:t>
            </a:r>
            <a:r>
              <a:rPr lang="en-US" dirty="0">
                <a:solidFill>
                  <a:srgbClr val="FFFFFF"/>
                </a:solidFill>
              </a:rPr>
              <a:t> dan </a:t>
            </a:r>
            <a:r>
              <a:rPr lang="en-US" dirty="0" err="1">
                <a:solidFill>
                  <a:srgbClr val="FFFFFF"/>
                </a:solidFill>
              </a:rPr>
              <a:t>bodycare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merupakan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kategori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terendah</a:t>
            </a:r>
            <a:r>
              <a:rPr lang="en-US" dirty="0">
                <a:solidFill>
                  <a:srgbClr val="FFFFFF"/>
                </a:solidFill>
              </a:rPr>
              <a:t> di top 5 total revenue. Data yang </a:t>
            </a:r>
            <a:r>
              <a:rPr lang="en-US" dirty="0" err="1">
                <a:solidFill>
                  <a:srgbClr val="FFFFFF"/>
                </a:solidFill>
              </a:rPr>
              <a:t>digunakan</a:t>
            </a:r>
            <a:r>
              <a:rPr lang="en-US" dirty="0">
                <a:solidFill>
                  <a:srgbClr val="FFFFFF"/>
                </a:solidFill>
              </a:rPr>
              <a:t> Adalah total revenue di </a:t>
            </a:r>
            <a:r>
              <a:rPr lang="en-US" dirty="0" err="1">
                <a:solidFill>
                  <a:srgbClr val="FFFFFF"/>
                </a:solidFill>
              </a:rPr>
              <a:t>sumbu</a:t>
            </a:r>
            <a:r>
              <a:rPr lang="en-US" dirty="0">
                <a:solidFill>
                  <a:srgbClr val="FFFFFF"/>
                </a:solidFill>
              </a:rPr>
              <a:t> x dan row product category </a:t>
            </a:r>
            <a:r>
              <a:rPr lang="en-US" dirty="0" err="1">
                <a:solidFill>
                  <a:srgbClr val="FFFFFF"/>
                </a:solidFill>
              </a:rPr>
              <a:t>dari</a:t>
            </a:r>
            <a:r>
              <a:rPr lang="en-US" dirty="0">
                <a:solidFill>
                  <a:srgbClr val="FFFFFF"/>
                </a:solidFill>
              </a:rPr>
              <a:t> product data di </a:t>
            </a:r>
            <a:r>
              <a:rPr lang="en-US" dirty="0" err="1">
                <a:solidFill>
                  <a:srgbClr val="FFFFFF"/>
                </a:solidFill>
              </a:rPr>
              <a:t>sumbu</a:t>
            </a:r>
            <a:r>
              <a:rPr lang="en-US" dirty="0">
                <a:solidFill>
                  <a:srgbClr val="FFFFFF"/>
                </a:solidFill>
              </a:rPr>
              <a:t> y. </a:t>
            </a:r>
            <a:r>
              <a:rPr lang="en-US" dirty="0" err="1">
                <a:solidFill>
                  <a:srgbClr val="FFFFFF"/>
                </a:solidFill>
              </a:rPr>
              <a:t>pewarnaan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menggunakan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gradasi</a:t>
            </a:r>
            <a:r>
              <a:rPr lang="en-US" dirty="0">
                <a:solidFill>
                  <a:srgbClr val="FFFFFF"/>
                </a:solidFill>
              </a:rPr>
              <a:t>, </a:t>
            </a:r>
            <a:r>
              <a:rPr lang="en-US" dirty="0" err="1">
                <a:solidFill>
                  <a:srgbClr val="FFFFFF"/>
                </a:solidFill>
              </a:rPr>
              <a:t>jika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semakin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gelap</a:t>
            </a:r>
            <a:r>
              <a:rPr lang="en-US" dirty="0">
                <a:solidFill>
                  <a:srgbClr val="FFFFFF"/>
                </a:solidFill>
              </a:rPr>
              <a:t>, </a:t>
            </a:r>
            <a:r>
              <a:rPr lang="en-US" dirty="0" err="1">
                <a:solidFill>
                  <a:srgbClr val="FFFFFF"/>
                </a:solidFill>
              </a:rPr>
              <a:t>maka</a:t>
            </a:r>
            <a:r>
              <a:rPr lang="en-US" dirty="0">
                <a:solidFill>
                  <a:srgbClr val="FFFFFF"/>
                </a:solidFill>
              </a:rPr>
              <a:t> data </a:t>
            </a:r>
            <a:r>
              <a:rPr lang="en-US" dirty="0" err="1">
                <a:solidFill>
                  <a:srgbClr val="FFFFFF"/>
                </a:solidFill>
              </a:rPr>
              <a:t>tersebut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semakin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tinggi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7529CE1-9541-7589-8493-BE9E20210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310" y="3698707"/>
            <a:ext cx="6359800" cy="284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468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C244F-DDD5-D47B-CAC1-1D64A5D66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B810B14-17DD-4A11-ADA9-FC711BC40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D59C70-EDF7-B327-FBC1-C9F1B9B59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27F48-7AC6-A501-ACAC-2BFE0EB7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Insight </a:t>
            </a:r>
            <a:r>
              <a:rPr lang="en-US" sz="3700" b="1" dirty="0" err="1">
                <a:solidFill>
                  <a:srgbClr val="FFFFFF"/>
                </a:solidFill>
              </a:rPr>
              <a:t>hasil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  <a:r>
              <a:rPr lang="en-US" sz="3700" b="1" dirty="0" err="1">
                <a:solidFill>
                  <a:srgbClr val="FFFFFF"/>
                </a:solidFill>
              </a:rPr>
              <a:t>analisis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</a:p>
          <a:p>
            <a:pPr algn="just"/>
            <a:r>
              <a:rPr lang="en-US" dirty="0">
                <a:solidFill>
                  <a:srgbClr val="FFFFFF"/>
                </a:solidFill>
              </a:rPr>
              <a:t>Pada chart revenue trend by month, </a:t>
            </a:r>
            <a:r>
              <a:rPr lang="en-US" dirty="0" err="1">
                <a:solidFill>
                  <a:srgbClr val="FFFFFF"/>
                </a:solidFill>
              </a:rPr>
              <a:t>bulan</a:t>
            </a:r>
            <a:r>
              <a:rPr lang="en-US" dirty="0">
                <a:solidFill>
                  <a:srgbClr val="FFFFFF"/>
                </a:solidFill>
              </a:rPr>
              <a:t> November </a:t>
            </a:r>
            <a:r>
              <a:rPr lang="en-US" dirty="0" err="1">
                <a:solidFill>
                  <a:srgbClr val="FFFFFF"/>
                </a:solidFill>
              </a:rPr>
              <a:t>merupakan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bulan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dengan</a:t>
            </a:r>
            <a:r>
              <a:rPr lang="en-US" dirty="0">
                <a:solidFill>
                  <a:srgbClr val="FFFFFF"/>
                </a:solidFill>
              </a:rPr>
              <a:t> total revenue </a:t>
            </a:r>
            <a:r>
              <a:rPr lang="en-US" dirty="0" err="1">
                <a:solidFill>
                  <a:srgbClr val="FFFFFF"/>
                </a:solidFill>
              </a:rPr>
              <a:t>tertinggi</a:t>
            </a:r>
            <a:r>
              <a:rPr lang="en-US" dirty="0">
                <a:solidFill>
                  <a:srgbClr val="FFFFFF"/>
                </a:solidFill>
              </a:rPr>
              <a:t>, </a:t>
            </a:r>
            <a:r>
              <a:rPr lang="en-US" dirty="0" err="1">
                <a:solidFill>
                  <a:srgbClr val="FFFFFF"/>
                </a:solidFill>
              </a:rPr>
              <a:t>sedangkan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bulan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juli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merupakan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bulan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dengan</a:t>
            </a:r>
            <a:r>
              <a:rPr lang="en-US" dirty="0">
                <a:solidFill>
                  <a:srgbClr val="FFFFFF"/>
                </a:solidFill>
              </a:rPr>
              <a:t> total revenue paling </a:t>
            </a:r>
            <a:r>
              <a:rPr lang="en-US" dirty="0" err="1">
                <a:solidFill>
                  <a:srgbClr val="FFFFFF"/>
                </a:solidFill>
              </a:rPr>
              <a:t>rendah</a:t>
            </a:r>
            <a:r>
              <a:rPr lang="en-US" dirty="0">
                <a:solidFill>
                  <a:srgbClr val="FFFFFF"/>
                </a:solidFill>
              </a:rPr>
              <a:t>. Data yang </a:t>
            </a:r>
            <a:r>
              <a:rPr lang="en-US" dirty="0" err="1">
                <a:solidFill>
                  <a:srgbClr val="FFFFFF"/>
                </a:solidFill>
              </a:rPr>
              <a:t>digunakan</a:t>
            </a:r>
            <a:r>
              <a:rPr lang="en-US" dirty="0">
                <a:solidFill>
                  <a:srgbClr val="FFFFFF"/>
                </a:solidFill>
              </a:rPr>
              <a:t> Adalah </a:t>
            </a:r>
            <a:r>
              <a:rPr lang="en-US" dirty="0" err="1">
                <a:solidFill>
                  <a:srgbClr val="FFFFFF"/>
                </a:solidFill>
              </a:rPr>
              <a:t>dax</a:t>
            </a:r>
            <a:r>
              <a:rPr lang="en-US" dirty="0">
                <a:solidFill>
                  <a:srgbClr val="FFFFFF"/>
                </a:solidFill>
              </a:rPr>
              <a:t> total revenue dan order date (month) </a:t>
            </a:r>
            <a:r>
              <a:rPr lang="en-US" dirty="0" err="1">
                <a:solidFill>
                  <a:srgbClr val="FFFFFF"/>
                </a:solidFill>
              </a:rPr>
              <a:t>dari</a:t>
            </a:r>
            <a:r>
              <a:rPr lang="en-US" dirty="0">
                <a:solidFill>
                  <a:srgbClr val="FFFFFF"/>
                </a:solidFill>
              </a:rPr>
              <a:t> table 2023. chart line chart </a:t>
            </a:r>
            <a:r>
              <a:rPr lang="en-US" dirty="0" err="1">
                <a:solidFill>
                  <a:srgbClr val="FFFFFF"/>
                </a:solidFill>
              </a:rPr>
              <a:t>karena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mencari</a:t>
            </a:r>
            <a:r>
              <a:rPr lang="en-US" dirty="0">
                <a:solidFill>
                  <a:srgbClr val="FFFFFF"/>
                </a:solidFill>
              </a:rPr>
              <a:t> trend </a:t>
            </a:r>
            <a:r>
              <a:rPr lang="en-US" dirty="0" err="1">
                <a:solidFill>
                  <a:srgbClr val="FFFFFF"/>
                </a:solidFill>
              </a:rPr>
              <a:t>dengan</a:t>
            </a:r>
            <a:r>
              <a:rPr lang="en-US" dirty="0">
                <a:solidFill>
                  <a:srgbClr val="FFFFFF"/>
                </a:solidFill>
              </a:rPr>
              <a:t> data.  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F11F7B3D-44B9-D393-23D7-6B161A207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705" y="3702440"/>
            <a:ext cx="5372820" cy="270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715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06089-1CF5-E1E7-9494-DF6B7B5D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DC6C00C-B9FD-8210-9A48-DBD7EBC7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22C782F-C86C-4D4B-E8DE-34CE7368C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A42EC-173C-433A-45FC-0B156AE0E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</a:rPr>
              <a:t>Insight </a:t>
            </a:r>
            <a:r>
              <a:rPr lang="en-US" sz="3700" b="1" dirty="0" err="1">
                <a:solidFill>
                  <a:srgbClr val="FFFFFF"/>
                </a:solidFill>
              </a:rPr>
              <a:t>hasil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  <a:r>
              <a:rPr lang="en-US" sz="3700" b="1" dirty="0" err="1">
                <a:solidFill>
                  <a:srgbClr val="FFFFFF"/>
                </a:solidFill>
              </a:rPr>
              <a:t>analisis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</a:p>
          <a:p>
            <a:pPr algn="just"/>
            <a:r>
              <a:rPr lang="en-US" dirty="0">
                <a:solidFill>
                  <a:srgbClr val="FFFFFF"/>
                </a:solidFill>
              </a:rPr>
              <a:t>Pada chart Order volume by shipping month, mode standard </a:t>
            </a:r>
            <a:r>
              <a:rPr lang="en-US" dirty="0" err="1">
                <a:solidFill>
                  <a:srgbClr val="FFFFFF"/>
                </a:solidFill>
              </a:rPr>
              <a:t>merupakan</a:t>
            </a:r>
            <a:r>
              <a:rPr lang="en-US" dirty="0">
                <a:solidFill>
                  <a:srgbClr val="FFFFFF"/>
                </a:solidFill>
              </a:rPr>
              <a:t> mode </a:t>
            </a:r>
            <a:r>
              <a:rPr lang="en-US" dirty="0" err="1">
                <a:solidFill>
                  <a:srgbClr val="FFFFFF"/>
                </a:solidFill>
              </a:rPr>
              <a:t>pengiriman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terbanyak</a:t>
            </a:r>
            <a:r>
              <a:rPr lang="en-US" dirty="0">
                <a:solidFill>
                  <a:srgbClr val="FFFFFF"/>
                </a:solidFill>
              </a:rPr>
              <a:t> per </a:t>
            </a:r>
            <a:r>
              <a:rPr lang="en-US" dirty="0" err="1">
                <a:solidFill>
                  <a:srgbClr val="FFFFFF"/>
                </a:solidFill>
              </a:rPr>
              <a:t>bulan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dengan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presentase</a:t>
            </a:r>
            <a:r>
              <a:rPr lang="en-US" dirty="0">
                <a:solidFill>
                  <a:srgbClr val="FFFFFF"/>
                </a:solidFill>
              </a:rPr>
              <a:t> 92%, </a:t>
            </a:r>
            <a:r>
              <a:rPr lang="en-US" dirty="0" err="1">
                <a:solidFill>
                  <a:srgbClr val="FFFFFF"/>
                </a:solidFill>
              </a:rPr>
              <a:t>sedangkan</a:t>
            </a:r>
            <a:r>
              <a:rPr lang="en-US" dirty="0">
                <a:solidFill>
                  <a:srgbClr val="FFFFFF"/>
                </a:solidFill>
              </a:rPr>
              <a:t> economy </a:t>
            </a:r>
            <a:r>
              <a:rPr lang="en-US" dirty="0" err="1">
                <a:solidFill>
                  <a:srgbClr val="FFFFFF"/>
                </a:solidFill>
              </a:rPr>
              <a:t>merupakan</a:t>
            </a:r>
            <a:r>
              <a:rPr lang="en-US" dirty="0">
                <a:solidFill>
                  <a:srgbClr val="FFFFFF"/>
                </a:solidFill>
              </a:rPr>
              <a:t> mode </a:t>
            </a:r>
            <a:r>
              <a:rPr lang="en-US" dirty="0" err="1">
                <a:solidFill>
                  <a:srgbClr val="FFFFFF"/>
                </a:solidFill>
              </a:rPr>
              <a:t>pengiriman</a:t>
            </a:r>
            <a:r>
              <a:rPr lang="en-US" dirty="0">
                <a:solidFill>
                  <a:srgbClr val="FFFFFF"/>
                </a:solidFill>
              </a:rPr>
              <a:t> paling </a:t>
            </a:r>
            <a:r>
              <a:rPr lang="en-US" dirty="0" err="1">
                <a:solidFill>
                  <a:srgbClr val="FFFFFF"/>
                </a:solidFill>
              </a:rPr>
              <a:t>sedikit</a:t>
            </a:r>
            <a:r>
              <a:rPr lang="en-US" dirty="0">
                <a:solidFill>
                  <a:srgbClr val="FFFFFF"/>
                </a:solidFill>
              </a:rPr>
              <a:t> per </a:t>
            </a:r>
            <a:r>
              <a:rPr lang="en-US" dirty="0" err="1">
                <a:solidFill>
                  <a:srgbClr val="FFFFFF"/>
                </a:solidFill>
              </a:rPr>
              <a:t>bulan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dengan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presentase</a:t>
            </a:r>
            <a:r>
              <a:rPr lang="en-US" dirty="0">
                <a:solidFill>
                  <a:srgbClr val="FFFFFF"/>
                </a:solidFill>
              </a:rPr>
              <a:t> 1.7%. Data yang </a:t>
            </a:r>
            <a:r>
              <a:rPr lang="en-US" dirty="0" err="1">
                <a:solidFill>
                  <a:srgbClr val="FFFFFF"/>
                </a:solidFill>
              </a:rPr>
              <a:t>digunakan</a:t>
            </a:r>
            <a:r>
              <a:rPr lang="en-US" dirty="0">
                <a:solidFill>
                  <a:srgbClr val="FFFFFF"/>
                </a:solidFill>
              </a:rPr>
              <a:t> Adalah shipping mode dan order date (month) </a:t>
            </a:r>
            <a:r>
              <a:rPr lang="en-US" dirty="0" err="1">
                <a:solidFill>
                  <a:srgbClr val="FFFFFF"/>
                </a:solidFill>
              </a:rPr>
              <a:t>dari</a:t>
            </a:r>
            <a:r>
              <a:rPr lang="en-US" dirty="0">
                <a:solidFill>
                  <a:srgbClr val="FFFFFF"/>
                </a:solidFill>
              </a:rPr>
              <a:t> table 2023. chart </a:t>
            </a:r>
            <a:r>
              <a:rPr lang="en-US" dirty="0" err="1">
                <a:solidFill>
                  <a:srgbClr val="FFFFFF"/>
                </a:solidFill>
              </a:rPr>
              <a:t>menggunakan</a:t>
            </a:r>
            <a:r>
              <a:rPr lang="en-US" dirty="0">
                <a:solidFill>
                  <a:srgbClr val="FFFFFF"/>
                </a:solidFill>
              </a:rPr>
              <a:t> pie chart dan </a:t>
            </a:r>
            <a:r>
              <a:rPr lang="en-US" dirty="0" err="1">
                <a:solidFill>
                  <a:srgbClr val="FFFFFF"/>
                </a:solidFill>
              </a:rPr>
              <a:t>gradasi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warna</a:t>
            </a:r>
            <a:r>
              <a:rPr lang="en-US">
                <a:solidFill>
                  <a:srgbClr val="FFFFFF"/>
                </a:solidFill>
              </a:rPr>
              <a:t>.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6BE2150-AD87-7A02-EC2F-5EBB819E2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224" y="3899281"/>
            <a:ext cx="5074399" cy="264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844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E5C82-D25C-44DE-489B-5693C432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9CEC703-EB69-9728-73FC-CEE747263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2A9F76-06EB-9C8F-5752-0A6DD3CC0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36F0D-BCE5-60E9-CBED-273B4B2F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46" y="316810"/>
            <a:ext cx="11438627" cy="4427718"/>
          </a:xfrm>
        </p:spPr>
        <p:txBody>
          <a:bodyPr>
            <a:normAutofit/>
          </a:bodyPr>
          <a:lstStyle/>
          <a:p>
            <a:r>
              <a:rPr lang="en-US" sz="3700" b="1" dirty="0" err="1">
                <a:solidFill>
                  <a:srgbClr val="FFFFFF"/>
                </a:solidFill>
              </a:rPr>
              <a:t>Rekomendasi</a:t>
            </a:r>
            <a:r>
              <a:rPr lang="en-US" sz="3700" b="1" dirty="0">
                <a:solidFill>
                  <a:srgbClr val="FFFFFF"/>
                </a:solidFill>
              </a:rPr>
              <a:t> </a:t>
            </a:r>
          </a:p>
          <a:p>
            <a:pPr algn="just"/>
            <a:r>
              <a:rPr lang="en-US" dirty="0">
                <a:solidFill>
                  <a:srgbClr val="FFFFFF"/>
                </a:solidFill>
              </a:rPr>
              <a:t>1.Memfokuskan </a:t>
            </a:r>
            <a:r>
              <a:rPr lang="en-US" dirty="0" err="1">
                <a:solidFill>
                  <a:srgbClr val="FFFFFF"/>
                </a:solidFill>
              </a:rPr>
              <a:t>lebih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penjualan</a:t>
            </a:r>
            <a:r>
              <a:rPr lang="en-US" dirty="0">
                <a:solidFill>
                  <a:srgbClr val="FFFFFF"/>
                </a:solidFill>
              </a:rPr>
              <a:t> pada </a:t>
            </a:r>
            <a:r>
              <a:rPr lang="en-US" dirty="0" err="1">
                <a:solidFill>
                  <a:srgbClr val="FFFFFF"/>
                </a:solidFill>
              </a:rPr>
              <a:t>kategori</a:t>
            </a:r>
            <a:r>
              <a:rPr lang="en-US" dirty="0">
                <a:solidFill>
                  <a:srgbClr val="FFFFFF"/>
                </a:solidFill>
              </a:rPr>
              <a:t> skincare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   </a:t>
            </a:r>
            <a:r>
              <a:rPr lang="en-US" dirty="0" err="1">
                <a:solidFill>
                  <a:srgbClr val="FFFFFF"/>
                </a:solidFill>
              </a:rPr>
              <a:t>dengan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memberi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penawaran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menarik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seperti</a:t>
            </a:r>
            <a:r>
              <a:rPr lang="en-US" dirty="0">
                <a:solidFill>
                  <a:srgbClr val="FFFFFF"/>
                </a:solidFill>
              </a:rPr>
              <a:t> buy 2 get 1 </a:t>
            </a:r>
            <a:r>
              <a:rPr lang="en-US" dirty="0" err="1">
                <a:solidFill>
                  <a:srgbClr val="FFFFFF"/>
                </a:solidFill>
              </a:rPr>
              <a:t>atau</a:t>
            </a:r>
            <a:r>
              <a:rPr lang="en-US" dirty="0">
                <a:solidFill>
                  <a:srgbClr val="FFFFFF"/>
                </a:solidFill>
              </a:rPr>
              <a:t>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   </a:t>
            </a:r>
            <a:r>
              <a:rPr lang="en-US" dirty="0" err="1">
                <a:solidFill>
                  <a:srgbClr val="FFFFFF"/>
                </a:solidFill>
              </a:rPr>
              <a:t>diskon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pPr algn="just"/>
            <a:r>
              <a:rPr lang="en-US" dirty="0">
                <a:solidFill>
                  <a:srgbClr val="FFFFFF"/>
                </a:solidFill>
              </a:rPr>
              <a:t>2.Memakai </a:t>
            </a:r>
            <a:r>
              <a:rPr lang="en-US" dirty="0" err="1">
                <a:solidFill>
                  <a:srgbClr val="FFFFFF"/>
                </a:solidFill>
              </a:rPr>
              <a:t>perencanaan</a:t>
            </a:r>
            <a:r>
              <a:rPr lang="en-US" dirty="0">
                <a:solidFill>
                  <a:srgbClr val="FFFFFF"/>
                </a:solidFill>
              </a:rPr>
              <a:t> pada </a:t>
            </a:r>
            <a:r>
              <a:rPr lang="en-US" dirty="0" err="1">
                <a:solidFill>
                  <a:srgbClr val="FFFFFF"/>
                </a:solidFill>
              </a:rPr>
              <a:t>bulan</a:t>
            </a:r>
            <a:r>
              <a:rPr lang="en-US" dirty="0">
                <a:solidFill>
                  <a:srgbClr val="FFFFFF"/>
                </a:solidFill>
              </a:rPr>
              <a:t> November </a:t>
            </a:r>
            <a:r>
              <a:rPr lang="en-US" dirty="0" err="1">
                <a:solidFill>
                  <a:srgbClr val="FFFFFF"/>
                </a:solidFill>
              </a:rPr>
              <a:t>melihat</a:t>
            </a:r>
            <a:r>
              <a:rPr lang="en-US" dirty="0">
                <a:solidFill>
                  <a:srgbClr val="FFFFFF"/>
                </a:solidFill>
              </a:rPr>
              <a:t> total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   revenue yang sangat </a:t>
            </a:r>
            <a:r>
              <a:rPr lang="en-US" dirty="0" err="1">
                <a:solidFill>
                  <a:srgbClr val="FFFFFF"/>
                </a:solidFill>
              </a:rPr>
              <a:t>tinggi</a:t>
            </a:r>
            <a:r>
              <a:rPr lang="en-US" dirty="0">
                <a:solidFill>
                  <a:srgbClr val="FFFFFF"/>
                </a:solidFill>
              </a:rPr>
              <a:t> di </a:t>
            </a:r>
            <a:r>
              <a:rPr lang="en-US" dirty="0" err="1">
                <a:solidFill>
                  <a:srgbClr val="FFFFFF"/>
                </a:solidFill>
              </a:rPr>
              <a:t>bulan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itu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  <a:p>
            <a:r>
              <a:rPr lang="en-US" dirty="0">
                <a:solidFill>
                  <a:srgbClr val="FFFFFF"/>
                </a:solidFill>
              </a:rPr>
              <a:t>3.Memberikan promo </a:t>
            </a:r>
            <a:r>
              <a:rPr lang="en-US" dirty="0" err="1">
                <a:solidFill>
                  <a:srgbClr val="FFFFFF"/>
                </a:solidFill>
              </a:rPr>
              <a:t>menarik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jika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menggunakan</a:t>
            </a:r>
            <a:r>
              <a:rPr lang="en-US" dirty="0">
                <a:solidFill>
                  <a:srgbClr val="FFFFFF"/>
                </a:solidFill>
              </a:rPr>
              <a:t> mode shipping 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   economy dan express agar </a:t>
            </a:r>
            <a:r>
              <a:rPr lang="en-US" dirty="0" err="1">
                <a:solidFill>
                  <a:srgbClr val="FFFFFF"/>
                </a:solidFill>
              </a:rPr>
              <a:t>pengiriman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bisa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lebih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cepat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3709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FD810-19B3-195B-F5A5-EA481766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CC1B79D-0999-E73F-FB93-E27BE8AEC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11B4023-A1A1-FF1B-FA0D-7D5FBEEC3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 descr="The image is a sales report for PT. SUKAMUNDUR for the year 2023, detailing total revenue, costs, and profit by product categories and shipping modes.&#10;&#10;AI-generated content may be incorrect.">
            <a:extLst>
              <a:ext uri="{FF2B5EF4-FFF2-40B4-BE49-F238E27FC236}">
                <a16:creationId xmlns:a16="http://schemas.microsoft.com/office/drawing/2014/main" id="{9C11CBFD-DFBF-63D8-7D0C-CC887801B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8" y="80495"/>
            <a:ext cx="11926964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538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{948ED133-2F78-4C43-90CD-97C1C43E85FE}TFf0a5ceae-4542-492d-822e-d65a94fb0e1e3b562c5a_win32-009a0557e699</Template>
  <TotalTime>262</TotalTime>
  <Words>759</Words>
  <Application>Microsoft Office PowerPoint</Application>
  <PresentationFormat>Widescreen</PresentationFormat>
  <Paragraphs>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Bookman Old Style</vt:lpstr>
      <vt:lpstr>Calibri</vt:lpstr>
      <vt:lpstr>Franklin Gothic Book</vt:lpstr>
      <vt:lpstr>Times New Roman</vt:lpstr>
      <vt:lpstr>Custom</vt:lpstr>
      <vt:lpstr>Aldi Kurnia Praditya Portofolio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Aldi Kurnia</dc:creator>
  <cp:lastModifiedBy>Aldi Kurnia</cp:lastModifiedBy>
  <cp:revision>9</cp:revision>
  <dcterms:created xsi:type="dcterms:W3CDTF">2026-02-28T05:55:09Z</dcterms:created>
  <dcterms:modified xsi:type="dcterms:W3CDTF">2026-02-28T13:30:12Z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